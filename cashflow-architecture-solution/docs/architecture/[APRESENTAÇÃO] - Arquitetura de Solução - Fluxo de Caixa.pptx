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0"/>
  </p:normalViewPr>
  <p:slideViewPr>
    <p:cSldViewPr snapToGrid="0" snapToObjects="1">
      <p:cViewPr varScale="1">
        <p:scale>
          <a:sx n="118" d="100"/>
          <a:sy n="118" d="100"/>
        </p:scale>
        <p:origin x="5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439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2364134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Plus Jakarta Sans"/>
              </a:rPr>
              <a:t>ARQUITETURA DE SOLUÇÃO EXECUTIVA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621309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Controle de Fluxo de Caixa &amp; Consolidado Diário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12840"/>
            <a:ext cx="7524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Design resiliente e desacoplado baseado em Event-Driven Architecture com .NET 8, Redis e RabbitMQ.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4050" y="6238875"/>
            <a:ext cx="2547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Plus Jakarta Sans"/>
              </a:rPr>
              <a:t>.NET 8 C# | AWS Cloud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6238875"/>
            <a:ext cx="2024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Arquitetura Alvo &amp; C4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76950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2232719"/>
            <a:ext cx="5391150" cy="849510"/>
          </a:xfrm>
          <a:prstGeom prst="roundRect">
            <a:avLst>
              <a:gd name="adj" fmla="val 13454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9600" y="3234630"/>
            <a:ext cx="5391150" cy="849510"/>
          </a:xfrm>
          <a:prstGeom prst="roundRect">
            <a:avLst>
              <a:gd name="adj" fmla="val 13454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4236541"/>
            <a:ext cx="5391150" cy="849510"/>
          </a:xfrm>
          <a:prstGeom prst="roundRect">
            <a:avLst>
              <a:gd name="adj" fmla="val 13454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91250" y="2232719"/>
            <a:ext cx="5391150" cy="849510"/>
          </a:xfrm>
          <a:prstGeom prst="roundRect">
            <a:avLst>
              <a:gd name="adj" fmla="val 13454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1250" y="3234630"/>
            <a:ext cx="5391150" cy="849510"/>
          </a:xfrm>
          <a:prstGeom prst="roundRect">
            <a:avLst>
              <a:gd name="adj" fmla="val 13454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1250" y="4236541"/>
            <a:ext cx="5391150" cy="849510"/>
          </a:xfrm>
          <a:prstGeom prst="roundRect">
            <a:avLst>
              <a:gd name="adj" fmla="val 13454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91875" y="6238875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02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6238875"/>
            <a:ext cx="1845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Agenda da Apresentação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47700"/>
            <a:ext cx="3333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VISÃO GERAL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876300"/>
            <a:ext cx="3500437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Agenda Executiva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514600"/>
            <a:ext cx="5429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Plus Jakarta San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516510"/>
            <a:ext cx="5810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Plus Jakarta San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518421"/>
            <a:ext cx="5905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Plus Jakarta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2514600"/>
            <a:ext cx="6000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3516510"/>
            <a:ext cx="5905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4518421"/>
            <a:ext cx="5905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300" y="2470844"/>
            <a:ext cx="35879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Visão de Negócio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" y="2670869"/>
            <a:ext cx="3417093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Capacidades de lançamentos e consolidação.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5400" y="3472755"/>
            <a:ext cx="3200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Arquitetura Alvo (EDA)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5400" y="3672780"/>
            <a:ext cx="3048000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Desacoplamento assíncrono e resiliência.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4925" y="4474666"/>
            <a:ext cx="31003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Modelagem C4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4925" y="4674691"/>
            <a:ext cx="2952750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Contexto, Contêineres e Componentes.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6100" y="2470844"/>
            <a:ext cx="337542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Análise Tecnológica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6100" y="2670869"/>
            <a:ext cx="3214687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Matriz de trade-offs (.NET vs Java vs Python).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6575" y="3472755"/>
            <a:ext cx="273784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Migração &amp; Custos AWS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6575" y="3672780"/>
            <a:ext cx="2607468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Padrão Strangler Fig, CDC e FinOps.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6575" y="4474666"/>
            <a:ext cx="29003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Segurança &amp; Observabilidade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6575" y="4674691"/>
            <a:ext cx="2762250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OAuth2, OpenTelemetry e Resiliência.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76950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2634704"/>
            <a:ext cx="5386387" cy="2278112"/>
          </a:xfrm>
          <a:prstGeom prst="roundRect">
            <a:avLst>
              <a:gd name="adj" fmla="val 5017"/>
            </a:avLst>
          </a:prstGeom>
          <a:solidFill>
            <a:srgbClr val="12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24587" y="2620416"/>
            <a:ext cx="5357812" cy="2306687"/>
          </a:xfrm>
          <a:prstGeom prst="roundRect">
            <a:avLst>
              <a:gd name="adj" fmla="val 4955"/>
            </a:avLst>
          </a:prstGeom>
          <a:solidFill>
            <a:srgbClr val="12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6300" y="2872829"/>
            <a:ext cx="1171575" cy="238125"/>
          </a:xfrm>
          <a:prstGeom prst="roundRect">
            <a:avLst>
              <a:gd name="adj" fmla="val 24000"/>
            </a:avLst>
          </a:prstGeom>
          <a:solidFill>
            <a:srgbClr val="302130"/>
          </a:solidFill>
          <a:ln w="9525">
            <a:solidFill>
              <a:srgbClr val="4F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903291"/>
            <a:ext cx="53863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2634704"/>
            <a:ext cx="53863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2634704"/>
            <a:ext cx="38100" cy="2278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86462" y="2634704"/>
            <a:ext cx="9525" cy="2278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62712" y="2887116"/>
            <a:ext cx="1533525" cy="238125"/>
          </a:xfrm>
          <a:prstGeom prst="roundRect">
            <a:avLst>
              <a:gd name="adj" fmla="val 24000"/>
            </a:avLst>
          </a:prstGeom>
          <a:solidFill>
            <a:srgbClr val="152A4E"/>
          </a:solidFill>
          <a:ln w="9525">
            <a:solidFill>
              <a:srgbClr val="183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24587" y="4917578"/>
            <a:ext cx="53578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4587" y="2620416"/>
            <a:ext cx="5357812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24587" y="2620416"/>
            <a:ext cx="9525" cy="23066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572875" y="2620416"/>
            <a:ext cx="9525" cy="23066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91875" y="6238875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03 /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6238875"/>
            <a:ext cx="1869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Mapeamento de Domínio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7700"/>
            <a:ext cx="7584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DOMÍNIO FUNCIONAL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876300"/>
            <a:ext cx="796349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Capacidades e Subdomínios de Negócio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" y="2910929"/>
            <a:ext cx="1076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7171"/>
                </a:solidFill>
                <a:latin typeface="Plus Jakarta Sans"/>
              </a:rPr>
              <a:t>Subdomínio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3225254"/>
            <a:ext cx="64070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Serviço de Lançamentos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3520529"/>
            <a:ext cx="49768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Captura transações financeiras de entrada e saída com latência ultrabaixa.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7962" y="2925216"/>
            <a:ext cx="14382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0A5FA"/>
                </a:solidFill>
                <a:latin typeface="Plus Jakarta Sans"/>
              </a:rPr>
              <a:t>Subdomínio Supporting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2712" y="3239541"/>
            <a:ext cx="57292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Consolidado Diário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2712" y="3534816"/>
            <a:ext cx="49768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Processa e sumariza o saldo diário por comerciante de forma assíncrona.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550" y="4036784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" y="4034879"/>
            <a:ext cx="5887640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94A3B8"/>
                </a:solidFill>
                <a:latin typeface="Plus Jakarta Sans"/>
              </a:rPr>
              <a:t>Registro Imutável: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Débitos e créditos positivos.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" y="4250055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" y="4248150"/>
            <a:ext cx="5887640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94A3B8"/>
                </a:solidFill>
                <a:latin typeface="Plus Jakarta Sans"/>
              </a:rPr>
              <a:t>Alta Disponibilidade: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Zero parada operacional.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4463325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50" y="4461420"/>
            <a:ext cx="5887640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94A3B8"/>
                </a:solidFill>
                <a:latin typeface="Plus Jakarta Sans"/>
              </a:rPr>
              <a:t>Latência p99: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Resposta abaixo de 100ms.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7962" y="4051071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4162" y="4049166"/>
            <a:ext cx="5557837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94A3B8"/>
                </a:solidFill>
                <a:latin typeface="Plus Jakarta Sans"/>
              </a:rPr>
              <a:t>Agregação Assíncrona: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Processamento desacoplado.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7962" y="4264342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4162" y="4262437"/>
            <a:ext cx="5557837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94A3B8"/>
                </a:solidFill>
                <a:latin typeface="Plus Jakarta Sans"/>
              </a:rPr>
              <a:t>Leitura Ultrarrápida: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Cache em memória com Redis.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7962" y="4477613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4162" y="4475708"/>
            <a:ext cx="5557837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94A3B8"/>
                </a:solidFill>
                <a:latin typeface="Plus Jakarta Sans"/>
              </a:rPr>
              <a:t>Histórico Diário: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Consultas consolidadas.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76950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2916435"/>
            <a:ext cx="3530649" cy="1714500"/>
          </a:xfrm>
          <a:prstGeom prst="roundRect">
            <a:avLst>
              <a:gd name="adj" fmla="val 6666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30749" y="2916435"/>
            <a:ext cx="3530649" cy="1714500"/>
          </a:xfrm>
          <a:prstGeom prst="roundRect">
            <a:avLst>
              <a:gd name="adj" fmla="val 6666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51899" y="2916435"/>
            <a:ext cx="3530649" cy="1714500"/>
          </a:xfrm>
          <a:prstGeom prst="roundRect">
            <a:avLst>
              <a:gd name="adj" fmla="val 6666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54560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3154560"/>
            <a:ext cx="2571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3154560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91875" y="6238875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04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6238875"/>
            <a:ext cx="12001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Arquitetura Alvo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47700"/>
            <a:ext cx="7119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PADRÃO ARQUITETURAL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876300"/>
            <a:ext cx="7475934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Arquitetura Orientada a Eventos (EDA)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497460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Desacoplamento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792735"/>
            <a:ext cx="31496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A API de Lançamentos permanece ativa mesmo com indisponibilidade no Consolidado.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3497460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Mensageria Resiliente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874" y="3792735"/>
            <a:ext cx="31496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Eventos de lançamento trafegam via RabbitMQ com garantia de entrega e DLQ.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3497460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Cache em Memória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024" y="3792735"/>
            <a:ext cx="31496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Saldos atualizados atomicamente no Redis para consultas instantâneas do comerciante.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76950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706100" y="647700"/>
            <a:ext cx="876300" cy="238125"/>
          </a:xfrm>
          <a:prstGeom prst="roundRect">
            <a:avLst>
              <a:gd name="adj" fmla="val 24000"/>
            </a:avLst>
          </a:prstGeom>
          <a:solidFill>
            <a:srgbClr val="0F2449"/>
          </a:solidFill>
          <a:ln w="9525">
            <a:solidFill>
              <a:srgbClr val="132F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91875" y="6238875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05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1350" y="685800"/>
            <a:ext cx="7810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0A5FA"/>
                </a:solidFill>
                <a:latin typeface="Plus Jakarta Sans"/>
              </a:rPr>
              <a:t>Visão Macro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6238875"/>
            <a:ext cx="2131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C4 Model — Nível 1: Contexto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7700"/>
            <a:ext cx="639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C4 MODEL — NÍVEL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876300"/>
            <a:ext cx="6713339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Diagrama de Contexto de Sistema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6C4359A9-C131-14AC-6C5B-CC38FBE00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435100"/>
            <a:ext cx="6553200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76950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753600" y="647700"/>
            <a:ext cx="1828800" cy="238125"/>
          </a:xfrm>
          <a:prstGeom prst="roundRect">
            <a:avLst>
              <a:gd name="adj" fmla="val 24000"/>
            </a:avLst>
          </a:prstGeom>
          <a:solidFill>
            <a:srgbClr val="2A1B2B"/>
          </a:solidFill>
          <a:ln w="9525">
            <a:solidFill>
              <a:srgbClr val="4A1D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91875" y="6238875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06 /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850" y="685800"/>
            <a:ext cx="17335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7171"/>
                </a:solidFill>
                <a:latin typeface="Plus Jakarta Sans"/>
              </a:rPr>
              <a:t>Arquitetura de Microsserviços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6238875"/>
            <a:ext cx="2369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C4 Model — Nível 2: Contêineres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47700"/>
            <a:ext cx="4750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C4 MODEL — NÍVEL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876300"/>
            <a:ext cx="4988123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Diagrama de Contêineres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2EF37999-1588-D670-FE9B-A7699BD17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046" y="1218756"/>
            <a:ext cx="6869907" cy="47819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76950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15550" y="647700"/>
            <a:ext cx="1466850" cy="238125"/>
          </a:xfrm>
          <a:prstGeom prst="roundRect">
            <a:avLst>
              <a:gd name="adj" fmla="val 24000"/>
            </a:avLst>
          </a:prstGeom>
          <a:solidFill>
            <a:srgbClr val="0F2449"/>
          </a:solidFill>
          <a:ln w="9525">
            <a:solidFill>
              <a:srgbClr val="132F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01400" y="6238875"/>
            <a:ext cx="666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07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10800" y="685800"/>
            <a:ext cx="1371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0A5FA"/>
                </a:solidFill>
                <a:latin typeface="Plus Jakarta Sans"/>
              </a:rPr>
              <a:t>Estrutura Interna .NET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6238875"/>
            <a:ext cx="2547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C4 Model — Nível 3: Componentes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47700"/>
            <a:ext cx="7119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C4 MODEL — NÍVEL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876300"/>
            <a:ext cx="7475934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Componentes da API de Lançamentos</a:t>
            </a:r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10AE646E-690B-486D-35F9-897037301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327482"/>
            <a:ext cx="7162800" cy="46542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76950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644973"/>
            <a:ext cx="10972800" cy="2257425"/>
          </a:xfrm>
          <a:prstGeom prst="roundRect">
            <a:avLst>
              <a:gd name="adj" fmla="val 5063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3049785"/>
            <a:ext cx="27220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41191" y="3049785"/>
            <a:ext cx="30357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6987" y="3049785"/>
            <a:ext cx="259184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68829" y="3049785"/>
            <a:ext cx="26040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125" y="3506985"/>
            <a:ext cx="27220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41191" y="3506985"/>
            <a:ext cx="30357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76987" y="3506985"/>
            <a:ext cx="259184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8829" y="3506985"/>
            <a:ext cx="26040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125" y="3964185"/>
            <a:ext cx="27220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41191" y="3964185"/>
            <a:ext cx="30357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76987" y="3964185"/>
            <a:ext cx="259184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68829" y="3964185"/>
            <a:ext cx="26040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125" y="4421385"/>
            <a:ext cx="27220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41191" y="4421385"/>
            <a:ext cx="30357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76987" y="4421385"/>
            <a:ext cx="259184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8829" y="4421385"/>
            <a:ext cx="26040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125" y="4878585"/>
            <a:ext cx="27220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41191" y="4878585"/>
            <a:ext cx="303579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76987" y="4878585"/>
            <a:ext cx="259184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68829" y="4878585"/>
            <a:ext cx="26040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493591" y="3187898"/>
            <a:ext cx="1657350" cy="238125"/>
          </a:xfrm>
          <a:prstGeom prst="roundRect">
            <a:avLst>
              <a:gd name="adj" fmla="val 24000"/>
            </a:avLst>
          </a:prstGeom>
          <a:solidFill>
            <a:srgbClr val="152A4E"/>
          </a:solidFill>
          <a:ln w="9525">
            <a:solidFill>
              <a:srgbClr val="183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493591" y="4559498"/>
            <a:ext cx="1400175" cy="238125"/>
          </a:xfrm>
          <a:prstGeom prst="roundRect">
            <a:avLst>
              <a:gd name="adj" fmla="val 24000"/>
            </a:avLst>
          </a:prstGeom>
          <a:solidFill>
            <a:srgbClr val="302130"/>
          </a:solidFill>
          <a:ln w="9525">
            <a:solidFill>
              <a:srgbClr val="4F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19125" y="2654498"/>
          <a:ext cx="10953748" cy="2238375"/>
        </p:xfrm>
        <a:graphic>
          <a:graphicData uri="http://schemas.openxmlformats.org/drawingml/2006/table">
            <a:tbl>
              <a:tblPr/>
              <a:tblGrid>
                <a:gridCol w="2722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1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4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Critério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60A5FA"/>
                          </a:solidFill>
                          <a:latin typeface="Plus Jakarta Sans"/>
                        </a:rPr>
                        <a:t>.NET 8 (C#) ⭐ Recomendado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Java 21 (Spring Boot)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Python 3.12 (FastAPI)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Desempenho / Throughput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Excelente (Virtual Threads)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Moderado (GIL Restritivo)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Uso de Memória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Baixo/Médio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(~40-80MB)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Médio/Alto (~150-350MB)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Baixo/Médio (~60-120MB)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Latência (p99)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&lt; 15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&lt; 20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&lt; 65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Custo de Infraestrutura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Médio (Uso de RAM)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Alto (Mais réplicas)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1191875" y="6238875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08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6238875"/>
            <a:ext cx="1464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Matriz de Trade-offs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47700"/>
            <a:ext cx="6631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DECISÃO DE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876300"/>
            <a:ext cx="696337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Análise Comparativa de Linguagens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8841" y="3225998"/>
            <a:ext cx="15621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0A5FA"/>
                </a:solidFill>
                <a:latin typeface="Plus Jakarta Sans"/>
              </a:rPr>
              <a:t>Excelente (JIT / System.IO)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8841" y="4597598"/>
            <a:ext cx="1304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7171"/>
                </a:solidFill>
                <a:latin typeface="Plus Jakarta Sans"/>
              </a:rPr>
              <a:t>Baixo (TCO Reduzido)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76950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2802135"/>
            <a:ext cx="5372100" cy="1943100"/>
          </a:xfrm>
          <a:prstGeom prst="roundRect">
            <a:avLst>
              <a:gd name="adj" fmla="val 5882"/>
            </a:avLst>
          </a:prstGeom>
          <a:solidFill>
            <a:srgbClr val="12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0300" y="2802135"/>
            <a:ext cx="5372100" cy="1943100"/>
          </a:xfrm>
          <a:prstGeom prst="roundRect">
            <a:avLst>
              <a:gd name="adj" fmla="val 5882"/>
            </a:avLst>
          </a:prstGeom>
          <a:solidFill>
            <a:srgbClr val="12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6300" y="3040260"/>
            <a:ext cx="1190625" cy="238125"/>
          </a:xfrm>
          <a:prstGeom prst="roundRect">
            <a:avLst>
              <a:gd name="adj" fmla="val 24000"/>
            </a:avLst>
          </a:prstGeom>
          <a:solidFill>
            <a:srgbClr val="302130"/>
          </a:solidFill>
          <a:ln w="9525">
            <a:solidFill>
              <a:srgbClr val="4F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735710"/>
            <a:ext cx="53721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2802135"/>
            <a:ext cx="53721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2802135"/>
            <a:ext cx="38100" cy="1943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72175" y="2802135"/>
            <a:ext cx="9525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77000" y="3040260"/>
            <a:ext cx="1209675" cy="238125"/>
          </a:xfrm>
          <a:prstGeom prst="roundRect">
            <a:avLst>
              <a:gd name="adj" fmla="val 24000"/>
            </a:avLst>
          </a:prstGeom>
          <a:solidFill>
            <a:srgbClr val="152A4E"/>
          </a:solidFill>
          <a:ln w="9525">
            <a:solidFill>
              <a:srgbClr val="183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0300" y="4735710"/>
            <a:ext cx="53721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0300" y="2802135"/>
            <a:ext cx="53721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0300" y="2802135"/>
            <a:ext cx="38100" cy="1943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572875" y="2802135"/>
            <a:ext cx="9525" cy="194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91875" y="6238875"/>
            <a:ext cx="6762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09 /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6238875"/>
            <a:ext cx="1464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ADR 001 &amp; ADR 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7700"/>
            <a:ext cx="7965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GOVERNANÇA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876300"/>
            <a:ext cx="836354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Registros de Decisões Arquiteturais (ADRs)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" y="3078360"/>
            <a:ext cx="1095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7171"/>
                </a:solidFill>
                <a:latin typeface="Plus Jakarta Sans"/>
              </a:rPr>
              <a:t>ADR 001 — Aceito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3392685"/>
            <a:ext cx="638829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Arquitetura EDA &amp; Microsserviços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3687960"/>
            <a:ext cx="49625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Desacoplamento assíncrono entre controle de lançamentos e consolidação financeira.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4202310"/>
            <a:ext cx="4962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Plus Jakarta Sans"/>
              </a:rPr>
              <a:t>Consequência: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 Garantia de disponibilidade com consistência eventual controlada (&lt; 500ms).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0" y="3078360"/>
            <a:ext cx="11144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0A5FA"/>
                </a:solidFill>
                <a:latin typeface="Plus Jakarta Sans"/>
              </a:rPr>
              <a:t>ADR 002 — Aceito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3392685"/>
            <a:ext cx="5715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Adoção do Framework .NET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0" y="3687960"/>
            <a:ext cx="49625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Escolha do ecossistema .NET 8 C# para máxima concorrência e baixo consumo de recursos.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0" y="4202310"/>
            <a:ext cx="4962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Plus Jakarta Sans"/>
              </a:rPr>
              <a:t>Consequência: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 Alta densidade de pods no Kubernetes e menor custo de infraestrutura.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76950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2930723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30749" y="2930723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12203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51899" y="2930723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122032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7725" y="3168848"/>
            <a:ext cx="533400" cy="238125"/>
          </a:xfrm>
          <a:prstGeom prst="roundRect">
            <a:avLst>
              <a:gd name="adj" fmla="val 24000"/>
            </a:avLst>
          </a:prstGeom>
          <a:solidFill>
            <a:srgbClr val="152A4E"/>
          </a:solidFill>
          <a:ln w="9525">
            <a:solidFill>
              <a:srgbClr val="183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68874" y="3168848"/>
            <a:ext cx="552450" cy="238125"/>
          </a:xfrm>
          <a:prstGeom prst="roundRect">
            <a:avLst>
              <a:gd name="adj" fmla="val 24000"/>
            </a:avLst>
          </a:prstGeom>
          <a:solidFill>
            <a:srgbClr val="302130"/>
          </a:solidFill>
          <a:ln w="9525">
            <a:solidFill>
              <a:srgbClr val="4F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90024" y="3168848"/>
            <a:ext cx="552450" cy="238125"/>
          </a:xfrm>
          <a:prstGeom prst="roundRect">
            <a:avLst>
              <a:gd name="adj" fmla="val 24000"/>
            </a:avLst>
          </a:prstGeom>
          <a:solidFill>
            <a:srgbClr val="152A4E"/>
          </a:solidFill>
          <a:ln w="9525">
            <a:solidFill>
              <a:srgbClr val="183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20450" y="6238875"/>
            <a:ext cx="647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10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6238875"/>
            <a:ext cx="1524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Migração de Legado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47700"/>
            <a:ext cx="7834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ESTRATÉGIA DE MIGRAÇÃO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876300"/>
            <a:ext cx="8226028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Migração de Legado (Strangler Fig + CDC)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3206948"/>
            <a:ext cx="4381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0A5FA"/>
                </a:solidFill>
                <a:latin typeface="Plus Jakarta Sans"/>
              </a:rPr>
              <a:t>Fase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483173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Estrangulamento de Leitura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778448"/>
            <a:ext cx="31496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O CDC (Debezium) captura alterações no banco legado e popula a nova base do Consolidado via eventos.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4124" y="3206948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7171"/>
                </a:solidFill>
                <a:latin typeface="Plus Jakarta Sans"/>
              </a:rPr>
              <a:t>Fase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8874" y="3483173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Chaveamento de Escrita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8874" y="3778448"/>
            <a:ext cx="31496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O tráfego de gravação é redirecionado via API Gateway para o novo microsserviço em .NET 8.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274" y="3206948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0A5FA"/>
                </a:solidFill>
                <a:latin typeface="Plus Jakarta Sans"/>
              </a:rPr>
              <a:t>Fase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024" y="3483173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Desativação do Monolito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024" y="3778448"/>
            <a:ext cx="31496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Desligamento definitivo das rotinas financeiras do sistema legado sem impacto operacional.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76950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2669976"/>
            <a:ext cx="5357812" cy="2207418"/>
          </a:xfrm>
          <a:prstGeom prst="roundRect">
            <a:avLst>
              <a:gd name="adj" fmla="val 5177"/>
            </a:avLst>
          </a:prstGeom>
          <a:solidFill>
            <a:srgbClr val="0D1F3B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6012" y="3028057"/>
            <a:ext cx="5386387" cy="1491257"/>
          </a:xfrm>
          <a:prstGeom prst="roundRect">
            <a:avLst>
              <a:gd name="adj" fmla="val 7664"/>
            </a:avLst>
          </a:prstGeom>
          <a:solidFill>
            <a:srgbClr val="12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7725" y="4315420"/>
            <a:ext cx="488156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6012" y="4509789"/>
            <a:ext cx="53863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6012" y="3028057"/>
            <a:ext cx="53863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6012" y="3028057"/>
            <a:ext cx="38100" cy="1491257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572875" y="3028057"/>
            <a:ext cx="9525" cy="14912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68075" y="6238875"/>
            <a:ext cx="6000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11 /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6238875"/>
            <a:ext cx="1893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Infraestrutura &amp; Resiliência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7700"/>
            <a:ext cx="8072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FINOPS &amp; INFRAESTRUTURA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876300"/>
            <a:ext cx="8476059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Estimativa de Custos AWS &amp; Requisitos NRF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2908101"/>
            <a:ext cx="64070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Plus Jakarta Sans"/>
              </a:rPr>
              <a:t>Estimativa AWS (Pico 50+ RPS)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429720"/>
            <a:ext cx="497681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Total Estimado: </a:t>
            </a:r>
            <a:r>
              <a:rPr sz="1200" b="1" i="0" u="none">
                <a:solidFill>
                  <a:srgbClr val="F87171"/>
                </a:solidFill>
                <a:latin typeface="Plus Jakarta Sans"/>
              </a:rPr>
              <a:t>~$318.00 / 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2712" y="3266182"/>
            <a:ext cx="57292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Requisitos Não-Funcionais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975" y="3204329"/>
            <a:ext cx="7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175" y="3203376"/>
            <a:ext cx="5887640" cy="23991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EKS Cluster: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Control Plane + 3x t4g.medium (~$115.00)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975" y="3444240"/>
            <a:ext cx="7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175" y="3443287"/>
            <a:ext cx="5887640" cy="23991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RDS PostgreSQL: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Multi-AZ db.t4g.small (~$65.00)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75" y="3684150"/>
            <a:ext cx="7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175" y="3683198"/>
            <a:ext cx="5887640" cy="23991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ElastiCache Redis: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cache.t4g.micro (~$18.00)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975" y="3924061"/>
            <a:ext cx="7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175" y="3923109"/>
            <a:ext cx="5887640" cy="23991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Amazon MQ / RabbitMQ: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mq.m5.large (~$85.00)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7962" y="3562409"/>
            <a:ext cx="7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4162" y="3561457"/>
            <a:ext cx="5557837" cy="23991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Segurança: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OAuth2/OIDC, JWT e criptografia TLS 1.3/AES-256.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7962" y="3802320"/>
            <a:ext cx="7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4162" y="3801367"/>
            <a:ext cx="5557837" cy="23991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Resiliência: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Retry policy, Circuit Breaker (Polly) e DLQ.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7962" y="4042231"/>
            <a:ext cx="7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4162" y="4041278"/>
            <a:ext cx="5557837" cy="23991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Observabilidade: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OpenTelemetry, Prometheus e Serilog.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38875"/>
            <a:ext cx="1219200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43425" y="4538662"/>
            <a:ext cx="3105150" cy="342900"/>
          </a:xfrm>
          <a:prstGeom prst="roundRect">
            <a:avLst>
              <a:gd name="adj" fmla="val 16666"/>
            </a:avLst>
          </a:prstGeom>
          <a:solidFill>
            <a:srgbClr val="172B4F"/>
          </a:solidFill>
          <a:ln w="9525">
            <a:solidFill>
              <a:srgbClr val="1A3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238875"/>
            <a:ext cx="12192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9523" y="2243137"/>
            <a:ext cx="267295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DC2626"/>
                </a:solidFill>
                <a:latin typeface="Plus Jakarta Sans"/>
              </a:rPr>
              <a:t>CONCLUSÃO EXECUTIVA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2500312"/>
            <a:ext cx="1000125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FFFFF"/>
                </a:solidFill>
                <a:latin typeface="Plus Jakarta Sans"/>
              </a:rPr>
              <a:t>Solução Pronta para Altíssimo Desempenho e Escala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6468" y="3719512"/>
            <a:ext cx="77390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Arquitetura desacoplada, segura e de baixo custo de manutenção, preparada para evolução contínua.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681" y="4614862"/>
            <a:ext cx="357663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0A5FA"/>
                </a:solidFill>
                <a:latin typeface="Plus Jakarta Sans"/>
              </a:rPr>
              <a:t>Abertura para Perguntas e Respostas (Q&amp;A)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6625" y="6248400"/>
            <a:ext cx="6286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12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75" y="6248400"/>
            <a:ext cx="1114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"/>
              </a:rPr>
              <a:t>Encerramento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780</Words>
  <Application>Microsoft Macintosh PowerPoint</Application>
  <PresentationFormat>Widescreen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Plus Jakarta Sans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Alexandre Mendes de Freitas</cp:lastModifiedBy>
  <cp:revision>5</cp:revision>
  <dcterms:created xsi:type="dcterms:W3CDTF">2013-01-27T09:14:16Z</dcterms:created>
  <dcterms:modified xsi:type="dcterms:W3CDTF">2026-10-09T18:10:02Z</dcterms:modified>
  <cp:category/>
</cp:coreProperties>
</file>